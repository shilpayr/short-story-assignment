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621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621A"/>
                </a:solidFill>
                <a:latin typeface="Arial"/>
              </a:rPr>
              <a:t>Image Quality Score by Inference Step Count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Quality Score (%)</c:v>
                </c:pt>
              </c:strCache>
            </c:strRef>
          </c:tx>
          <c:spPr>
            <a:solidFill>
              <a:srgbClr val="E8621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07-4E47-AEC0-0D61DD755FE9}"/>
              </c:ext>
            </c:extLst>
          </c:dPt>
          <c:dPt>
            <c:idx val="1"/>
            <c:invertIfNegative val="0"/>
            <c:bubble3D val="0"/>
            <c:spPr>
              <a:solidFill>
                <a:srgbClr val="B886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07-4E47-AEC0-0D61DD755FE9}"/>
              </c:ext>
            </c:extLst>
          </c:dPt>
          <c:dPt>
            <c:idx val="2"/>
            <c:invertIfNegative val="0"/>
            <c:bubble3D val="0"/>
            <c:spPr>
              <a:solidFill>
                <a:srgbClr val="3A5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07-4E47-AEC0-0D61DD755FE9}"/>
              </c:ext>
            </c:extLst>
          </c:dPt>
          <c:dPt>
            <c:idx val="3"/>
            <c:invertIfNegative val="0"/>
            <c:bubble3D val="0"/>
            <c:spPr>
              <a:solidFill>
                <a:srgbClr val="2E7D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107-4E47-AEC0-0D61DD755F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 Steps</c:v>
                </c:pt>
                <c:pt idx="1">
                  <c:v>20 Steps</c:v>
                </c:pt>
                <c:pt idx="2">
                  <c:v>30 Steps</c:v>
                </c:pt>
                <c:pt idx="3">
                  <c:v>50 Steps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85</c:v>
                </c:pt>
                <c:pt idx="2">
                  <c:v>93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107-4E47-AEC0-0D61DD755F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Inference Time (s)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C039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 Steps</c:v>
                </c:pt>
                <c:pt idx="1">
                  <c:v>20 Steps</c:v>
                </c:pt>
                <c:pt idx="2">
                  <c:v>30 Steps</c:v>
                </c:pt>
                <c:pt idx="3">
                  <c:v>50 Steps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2.4</c:v>
                </c:pt>
                <c:pt idx="2">
                  <c:v>3.6</c:v>
                </c:pt>
                <c:pt idx="3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CC-864B-B938-43922CE882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621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8621A"/>
                </a:solidFill>
                <a:latin typeface="Arial"/>
              </a:rPr>
              <a:t>FID Score on CIFAR-10  (lower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 Score (lower = better)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EE4-2E4A-9E19-CDE2E2984357}"/>
              </c:ext>
            </c:extLst>
          </c:dPt>
          <c:dPt>
            <c:idx val="1"/>
            <c:invertIfNegative val="0"/>
            <c:bubble3D val="0"/>
            <c:spPr>
              <a:solidFill>
                <a:srgbClr val="B886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E4-2E4A-9E19-CDE2E2984357}"/>
              </c:ext>
            </c:extLst>
          </c:dPt>
          <c:dPt>
            <c:idx val="2"/>
            <c:invertIfNegative val="0"/>
            <c:bubble3D val="0"/>
            <c:spPr>
              <a:solidFill>
                <a:srgbClr val="E862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EE4-2E4A-9E19-CDE2E2984357}"/>
              </c:ext>
            </c:extLst>
          </c:dPt>
          <c:dPt>
            <c:idx val="3"/>
            <c:invertIfNegative val="0"/>
            <c:bubble3D val="0"/>
            <c:spPr>
              <a:solidFill>
                <a:srgbClr val="3A5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EE4-2E4A-9E19-CDE2E2984357}"/>
              </c:ext>
            </c:extLst>
          </c:dPt>
          <c:dPt>
            <c:idx val="4"/>
            <c:invertIfNegative val="0"/>
            <c:bubble3D val="0"/>
            <c:spPr>
              <a:solidFill>
                <a:srgbClr val="2E7D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EE4-2E4A-9E19-CDE2E298435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DDPM
(1000 steps)</c:v>
                </c:pt>
                <c:pt idx="1">
                  <c:v>DDIM
(50 steps)</c:v>
                </c:pt>
                <c:pt idx="2">
                  <c:v>DDIM
(20 steps)</c:v>
                </c:pt>
                <c:pt idx="3">
                  <c:v>Progressive
Distill.</c:v>
                </c:pt>
                <c:pt idx="4">
                  <c:v>Consistency
Model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3.17</c:v>
                </c:pt>
                <c:pt idx="1">
                  <c:v>4.16</c:v>
                </c:pt>
                <c:pt idx="2">
                  <c:v>6.84</c:v>
                </c:pt>
                <c:pt idx="3">
                  <c:v>5.22</c:v>
                </c:pt>
                <c:pt idx="4">
                  <c:v>3.55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EE4-2E4A-9E19-CDE2E29843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A5A8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3A5A8A"/>
                </a:solidFill>
                <a:latin typeface="Arial"/>
              </a:rPr>
              <a:t>Relative Speedup vs. DDPM (×)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 vs. DDPM-1000</c:v>
                </c:pt>
              </c:strCache>
            </c:strRef>
          </c:tx>
          <c:spPr>
            <a:solidFill>
              <a:srgbClr val="E8621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0B9-2541-A1FC-6D04C3861BB6}"/>
              </c:ext>
            </c:extLst>
          </c:dPt>
          <c:dPt>
            <c:idx val="1"/>
            <c:invertIfNegative val="0"/>
            <c:bubble3D val="0"/>
            <c:spPr>
              <a:solidFill>
                <a:srgbClr val="B886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B9-2541-A1FC-6D04C3861BB6}"/>
              </c:ext>
            </c:extLst>
          </c:dPt>
          <c:dPt>
            <c:idx val="2"/>
            <c:invertIfNegative val="0"/>
            <c:bubble3D val="0"/>
            <c:spPr>
              <a:solidFill>
                <a:srgbClr val="3A5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B9-2541-A1FC-6D04C3861BB6}"/>
              </c:ext>
            </c:extLst>
          </c:dPt>
          <c:dPt>
            <c:idx val="3"/>
            <c:invertIfNegative val="0"/>
            <c:bubble3D val="0"/>
            <c:spPr>
              <a:solidFill>
                <a:srgbClr val="2E7D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B9-2541-A1FC-6D04C3861BB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0B9-2541-A1FC-6D04C3861BB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DDIM-50</c:v>
                </c:pt>
                <c:pt idx="1">
                  <c:v>DDIM-20</c:v>
                </c:pt>
                <c:pt idx="2">
                  <c:v>LCM-4</c:v>
                </c:pt>
                <c:pt idx="3">
                  <c:v>Consistency-1</c:v>
                </c:pt>
                <c:pt idx="4">
                  <c:v>SDXL-Turbo-1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50</c:v>
                </c:pt>
                <c:pt idx="2">
                  <c:v>250</c:v>
                </c:pt>
                <c:pt idx="3">
                  <c:v>1000</c:v>
                </c:pt>
                <c:pt idx="4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0B9-2541-A1FC-6D04C3861B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6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457200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1115568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1773936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0" y="2432304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0" y="3090672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3749040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4407408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5065776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TMLR 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54864" cy="292608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86868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13232" y="257860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Generative AI Became Faster,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Cheaper, and More Practical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3232" y="3429000"/>
            <a:ext cx="5029200" cy="27432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35478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Shilpa Yelkur Ramakrishnaiah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39502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"Efficient Diffusion Models: A Survey" — OpenReview / TMLR 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4370832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243858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44165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463040" y="4507992"/>
            <a:ext cx="27432" cy="29260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27048" y="4462272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Pillars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14600" y="4370832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243858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06040" y="44165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1000→20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74720" y="4507992"/>
            <a:ext cx="27432" cy="29260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38728" y="4462272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Reduced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26280" y="4370832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243858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17720" y="44165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8–16×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0" y="4507992"/>
            <a:ext cx="27432" cy="29260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50408" y="4462272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Savings (LDM)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786384"/>
            <a:ext cx="8979408" cy="3657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51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502920" cy="502920"/>
          </a:xfrm>
          <a:prstGeom prst="ellipse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87552" y="1097280"/>
            <a:ext cx="36576" cy="457200"/>
          </a:xfrm>
          <a:prstGeom prst="rect">
            <a:avLst/>
          </a:prstGeom>
          <a:solidFill>
            <a:srgbClr val="E8621A">
              <a:alpha val="50000"/>
            </a:srgbClr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10058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Diffusion Models?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3533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generative loop · training vs. inference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901952"/>
            <a:ext cx="4251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2066544"/>
            <a:ext cx="502920" cy="502920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066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87552" y="2084832"/>
            <a:ext cx="36576" cy="457200"/>
          </a:xfrm>
          <a:prstGeom prst="rect">
            <a:avLst/>
          </a:prstGeom>
          <a:solidFill>
            <a:srgbClr val="3A5A8A">
              <a:alpha val="50000"/>
            </a:srgbClr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19933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Efficiency Matters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340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 · bottlenecks · deployment gap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4251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" y="3054096"/>
            <a:ext cx="502920" cy="502920"/>
          </a:xfrm>
          <a:prstGeom prst="ellipse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87552" y="3072384"/>
            <a:ext cx="36576" cy="457200"/>
          </a:xfrm>
          <a:prstGeom prst="rect">
            <a:avLst/>
          </a:prstGeom>
          <a:solidFill>
            <a:srgbClr val="E8621A">
              <a:alpha val="50000"/>
            </a:srgbClr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97280" y="2980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Three-Pillar Taxonomy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3284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· System · Framework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877056"/>
            <a:ext cx="4251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4041648"/>
            <a:ext cx="502920" cy="502920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87552" y="4059936"/>
            <a:ext cx="36576" cy="457200"/>
          </a:xfrm>
          <a:prstGeom prst="rect">
            <a:avLst/>
          </a:prstGeom>
          <a:solidFill>
            <a:srgbClr val="3A5A8A">
              <a:alpha val="50000"/>
            </a:srgbClr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97280" y="39684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Algorithm-Level Optimization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315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 · distillation · LDM · quantization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914400"/>
            <a:ext cx="4251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64608" y="1115568"/>
            <a:ext cx="530352" cy="530352"/>
          </a:xfrm>
          <a:prstGeom prst="ellipse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64608" y="11155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0" y="1133856"/>
            <a:ext cx="36576" cy="585216"/>
          </a:xfrm>
          <a:prstGeom prst="rect">
            <a:avLst/>
          </a:prstGeom>
          <a:solidFill>
            <a:srgbClr val="E8621A">
              <a:alpha val="50000"/>
            </a:srgbClr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96128" y="103327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Framework Optimization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96128" y="1389888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 · TensorRT · mobile inference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103120"/>
            <a:ext cx="4251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64608" y="2304288"/>
            <a:ext cx="530352" cy="530352"/>
          </a:xfrm>
          <a:prstGeom prst="ellipse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64608" y="2304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0" y="2322576"/>
            <a:ext cx="36576" cy="585216"/>
          </a:xfrm>
          <a:prstGeom prst="rect">
            <a:avLst/>
          </a:prstGeom>
          <a:solidFill>
            <a:srgbClr val="3A5A8A">
              <a:alpha val="50000"/>
            </a:srgbClr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96128" y="222199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Experiment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96128" y="2578608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Step-count vs. quality tradeoff analysis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291840"/>
            <a:ext cx="4251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64608" y="3493008"/>
            <a:ext cx="530352" cy="530352"/>
          </a:xfrm>
          <a:prstGeom prst="ellipse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64608" y="34930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0" y="3511296"/>
            <a:ext cx="36576" cy="585216"/>
          </a:xfrm>
          <a:prstGeom prst="rect">
            <a:avLst/>
          </a:prstGeom>
          <a:solidFill>
            <a:srgbClr val="E8621A">
              <a:alpha val="50000"/>
            </a:srgbClr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596128" y="341071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Challenges &amp; Future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96128" y="3767328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 · open research frontiers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786384"/>
            <a:ext cx="8979408" cy="3657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Diffusion Models?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0E8"/>
          </a:solidFill>
          <a:ln w="10160">
            <a:solidFill>
              <a:srgbClr val="F0A070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969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2618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diffusion model learns to reverse a noise-corrupting process. It recovers clean data from progressively noisier versions, step by step — enabling high-quality generative output.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83664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203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Gaussian noise over T=1000 timesteps until image ≈ pure noise  (forward: q(xₜ|xₜ₋₁))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633472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26883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953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xₜ~N(0,I), reverse T steps with learned pθ(xₜ₋₁|xₜ) to produce clean image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438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or Transformer (DiT) predicts noise at each step; conditioned on text via cross-attention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4133088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4187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Loss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453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||ε − εθ(xₜ, t)||²  — model learns to predict the added noise at each timestep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914400"/>
            <a:ext cx="4251960" cy="4041648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9875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&amp; Reverse Pipeline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3716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 (Training: add noise →)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645920"/>
            <a:ext cx="685800" cy="804672"/>
          </a:xfrm>
          <a:prstGeom prst="roundRect">
            <a:avLst>
              <a:gd name="adj" fmla="val 8000"/>
            </a:avLst>
          </a:prstGeom>
          <a:solidFill>
            <a:srgbClr val="2E7D5E">
              <a:alpha val="85000"/>
            </a:srgbClr>
          </a:solidFill>
          <a:ln w="1905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64592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x₀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468112" y="2011680"/>
            <a:ext cx="64008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559552" y="1645920"/>
            <a:ext cx="685800" cy="804672"/>
          </a:xfrm>
          <a:prstGeom prst="roundRect">
            <a:avLst>
              <a:gd name="adj" fmla="val 8000"/>
            </a:avLst>
          </a:prstGeom>
          <a:solidFill>
            <a:srgbClr val="5B8A3C">
              <a:alpha val="85000"/>
            </a:srgbClr>
          </a:solidFill>
          <a:ln w="19050">
            <a:solidFill>
              <a:srgbClr val="5B8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59552" y="164592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x₂₅₀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72784" y="2011680"/>
            <a:ext cx="64008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64224" y="1645920"/>
            <a:ext cx="685800" cy="804672"/>
          </a:xfrm>
          <a:prstGeom prst="roundRect">
            <a:avLst>
              <a:gd name="adj" fmla="val 8000"/>
            </a:avLst>
          </a:prstGeom>
          <a:solidFill>
            <a:srgbClr val="3A5A8A">
              <a:alpha val="85000"/>
            </a:srgbClr>
          </a:solidFill>
          <a:ln w="1905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64224" y="164592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x₅₀₀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077456" y="2011680"/>
            <a:ext cx="64008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168896" y="1645920"/>
            <a:ext cx="685800" cy="804672"/>
          </a:xfrm>
          <a:prstGeom prst="roundRect">
            <a:avLst>
              <a:gd name="adj" fmla="val 8000"/>
            </a:avLst>
          </a:prstGeom>
          <a:solidFill>
            <a:srgbClr val="B8860B">
              <a:alpha val="85000"/>
            </a:srgbClr>
          </a:solidFill>
          <a:ln w="190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68896" y="164592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x₇₅₀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882128" y="2011680"/>
            <a:ext cx="64008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973568" y="1645920"/>
            <a:ext cx="685800" cy="804672"/>
          </a:xfrm>
          <a:prstGeom prst="roundRect">
            <a:avLst>
              <a:gd name="adj" fmla="val 8000"/>
            </a:avLst>
          </a:prstGeom>
          <a:solidFill>
            <a:srgbClr val="C0392B">
              <a:alpha val="85000"/>
            </a:srgbClr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973568" y="164592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36592" y="250545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noise each step →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00600" y="2724912"/>
            <a:ext cx="4005072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54880" y="27980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 (Inference: remove noise ←)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072384"/>
            <a:ext cx="685800" cy="804672"/>
          </a:xfrm>
          <a:prstGeom prst="roundRect">
            <a:avLst>
              <a:gd name="adj" fmla="val 8000"/>
            </a:avLst>
          </a:prstGeom>
          <a:solidFill>
            <a:srgbClr val="C0392B">
              <a:alpha val="85000"/>
            </a:srgbClr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54880" y="3072384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468112" y="3438144"/>
            <a:ext cx="64008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559552" y="3072384"/>
            <a:ext cx="685800" cy="804672"/>
          </a:xfrm>
          <a:prstGeom prst="roundRect">
            <a:avLst>
              <a:gd name="adj" fmla="val 8000"/>
            </a:avLst>
          </a:prstGeom>
          <a:solidFill>
            <a:srgbClr val="B8860B">
              <a:alpha val="85000"/>
            </a:srgbClr>
          </a:solidFill>
          <a:ln w="190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559552" y="3072384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272784" y="3438144"/>
            <a:ext cx="64008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364224" y="3072384"/>
            <a:ext cx="685800" cy="804672"/>
          </a:xfrm>
          <a:prstGeom prst="roundRect">
            <a:avLst>
              <a:gd name="adj" fmla="val 8000"/>
            </a:avLst>
          </a:prstGeom>
          <a:solidFill>
            <a:srgbClr val="3A5A8A">
              <a:alpha val="85000"/>
            </a:srgbClr>
          </a:solidFill>
          <a:ln w="1905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64224" y="3072384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077456" y="3438144"/>
            <a:ext cx="64008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168896" y="3072384"/>
            <a:ext cx="685800" cy="804672"/>
          </a:xfrm>
          <a:prstGeom prst="roundRect">
            <a:avLst>
              <a:gd name="adj" fmla="val 8000"/>
            </a:avLst>
          </a:prstGeom>
          <a:solidFill>
            <a:srgbClr val="5B8A3C">
              <a:alpha val="85000"/>
            </a:srgbClr>
          </a:solidFill>
          <a:ln w="19050">
            <a:solidFill>
              <a:srgbClr val="5B8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168896" y="3072384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882128" y="3438144"/>
            <a:ext cx="64008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973568" y="3072384"/>
            <a:ext cx="685800" cy="804672"/>
          </a:xfrm>
          <a:prstGeom prst="roundRect">
            <a:avLst>
              <a:gd name="adj" fmla="val 8000"/>
            </a:avLst>
          </a:prstGeom>
          <a:solidFill>
            <a:srgbClr val="2E7D5E">
              <a:alpha val="85000"/>
            </a:srgbClr>
          </a:solidFill>
          <a:ln w="1905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973568" y="3072384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Image!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736592" y="39319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denoise each step ←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736592" y="4187952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800600" y="422452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Each reverse step = 1 full U-Net forward pass  →  1000 steps = 1000× cost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786384"/>
            <a:ext cx="8979408" cy="3657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Efficiency Matters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" y="1005840"/>
            <a:ext cx="2596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9184" y="164592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/ Image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" y="1920240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DDPM sampling requirement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63824" y="9144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63824" y="914400"/>
            <a:ext cx="2743200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36976" y="1005840"/>
            <a:ext cx="2596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10–50×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36976" y="164592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GANs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36976" y="1920240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models generate in one step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71616" y="9144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71616" y="914400"/>
            <a:ext cx="2743200" cy="54864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44768" y="1005840"/>
            <a:ext cx="2596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44768" y="164592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RAM Usage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44768" y="1920240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in full pixel-space generation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6032" y="23591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 Comparison: Diffusion vs. Other Generative Models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2743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83080" y="2770632"/>
            <a:ext cx="5943600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83080" y="2770632"/>
            <a:ext cx="475488" cy="219456"/>
          </a:xfrm>
          <a:prstGeom prst="rect">
            <a:avLst/>
          </a:prstGeom>
          <a:solidFill>
            <a:srgbClr val="2E7D5E">
              <a:alpha val="90000"/>
            </a:srgbClr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1812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step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30998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83080" y="3127248"/>
            <a:ext cx="5943600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783080" y="3127248"/>
            <a:ext cx="475488" cy="219456"/>
          </a:xfrm>
          <a:prstGeom prst="rect">
            <a:avLst/>
          </a:prstGeom>
          <a:solidFill>
            <a:srgbClr val="2E7D5E">
              <a:alpha val="90000"/>
            </a:srgbClr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18120" y="30998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step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3456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Model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783080" y="3483864"/>
            <a:ext cx="5943600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783080" y="3483864"/>
            <a:ext cx="1485900" cy="219456"/>
          </a:xfrm>
          <a:prstGeom prst="rect">
            <a:avLst/>
          </a:prstGeom>
          <a:solidFill>
            <a:srgbClr val="5B8A3C">
              <a:alpha val="90000"/>
            </a:srgbClr>
          </a:solidFill>
          <a:ln w="12700">
            <a:solidFill>
              <a:srgbClr val="5B8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818120" y="34564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steps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38130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 (20)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783080" y="3840480"/>
            <a:ext cx="5943600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783080" y="3840480"/>
            <a:ext cx="2674620" cy="219456"/>
          </a:xfrm>
          <a:prstGeom prst="rect">
            <a:avLst/>
          </a:prstGeom>
          <a:solidFill>
            <a:srgbClr val="E8621A">
              <a:alpha val="90000"/>
            </a:srgbClr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818120" y="3813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steps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169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 (50)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783080" y="4197096"/>
            <a:ext cx="5943600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783080" y="4197096"/>
            <a:ext cx="4279392" cy="219456"/>
          </a:xfrm>
          <a:prstGeom prst="rect">
            <a:avLst/>
          </a:prstGeom>
          <a:solidFill>
            <a:srgbClr val="B8860B">
              <a:alpha val="90000"/>
            </a:srgbClr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18120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steps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4526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(500)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783080" y="4553712"/>
            <a:ext cx="5943600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783080" y="4553712"/>
            <a:ext cx="5943600" cy="219456"/>
          </a:xfrm>
          <a:prstGeom prst="rect">
            <a:avLst/>
          </a:prstGeom>
          <a:solidFill>
            <a:srgbClr val="C0392B">
              <a:alpha val="9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81812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steps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783080" y="2670048"/>
            <a:ext cx="5943600" cy="2743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783080" y="48463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Relative Inference Cost →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786384"/>
            <a:ext cx="8979408" cy="3657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Taxonomy: Three Optimization Pillars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788920" cy="4041648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2788920" cy="987552"/>
          </a:xfrm>
          <a:prstGeom prst="roundRect">
            <a:avLst>
              <a:gd name="adj" fmla="val 7407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2788920" cy="53035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96012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016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7472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" y="16642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Algorithm-Level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201168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Math Side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0352" y="2286000"/>
            <a:ext cx="2240280" cy="27432"/>
          </a:xfrm>
          <a:prstGeom prst="rect">
            <a:avLst/>
          </a:prstGeom>
          <a:solidFill>
            <a:srgbClr val="E8621A">
              <a:alpha val="50000"/>
            </a:srgbClr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" y="235915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Faster Samplers (DDIM, DPM-Solver, PLMS)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" y="27706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Knowledge Distillation (1–4 step models)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318211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Latent Diffusion Models (LDM)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2336" y="359359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 Pruning &amp; Quantization (INT8/INT4)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2336" y="400507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Consistency Models &amp; Flow Matching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553712"/>
            <a:ext cx="2395728" cy="310896"/>
          </a:xfrm>
          <a:prstGeom prst="roundRect">
            <a:avLst>
              <a:gd name="adj" fmla="val 14706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553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50× fewer steps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82112" y="914400"/>
            <a:ext cx="2788920" cy="4041648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82112" y="914400"/>
            <a:ext cx="2788920" cy="987552"/>
          </a:xfrm>
          <a:prstGeom prst="roundRect">
            <a:avLst>
              <a:gd name="adj" fmla="val 7407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82112" y="1371600"/>
            <a:ext cx="2788920" cy="530352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06240" y="96012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273552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273552" y="16642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73552" y="201168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Kernel Side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56432" y="2286000"/>
            <a:ext cx="2240280" cy="27432"/>
          </a:xfrm>
          <a:prstGeom prst="rect">
            <a:avLst/>
          </a:prstGeom>
          <a:solidFill>
            <a:srgbClr val="3A5A8A">
              <a:alpha val="50000"/>
            </a:srgbClr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28416" y="235915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Flash Attention (memory-efficient attn)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28416" y="27706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Computation Caching across timesteps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28416" y="318211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Quantized GPU Kernels (A100/H100)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28416" y="359359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Multi-GPU Distributed Inference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28416" y="400507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Pipeline &amp; Tensor Parallelism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83280" y="4553712"/>
            <a:ext cx="2395728" cy="310896"/>
          </a:xfrm>
          <a:prstGeom prst="roundRect">
            <a:avLst>
              <a:gd name="adj" fmla="val 14706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83280" y="4553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 throughput gain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08192" y="914400"/>
            <a:ext cx="2788920" cy="4041648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08192" y="914400"/>
            <a:ext cx="2788920" cy="987552"/>
          </a:xfrm>
          <a:prstGeom prst="roundRect">
            <a:avLst>
              <a:gd name="adj" fmla="val 7407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08192" y="1371600"/>
            <a:ext cx="2788920" cy="53035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132320" y="96012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13232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199632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199632" y="16642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Framework-Level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199632" y="201168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Side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82512" y="2286000"/>
            <a:ext cx="2240280" cy="27432"/>
          </a:xfrm>
          <a:prstGeom prst="rect">
            <a:avLst/>
          </a:prstGeom>
          <a:solidFill>
            <a:srgbClr val="E8621A">
              <a:alpha val="50000"/>
            </a:srgbClr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54496" y="235915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HuggingFace Diffusers library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54496" y="27706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TensorRT / ONNX Runtime compilation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54496" y="318211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torch.compile() JIT optimization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54496" y="359359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CoreML (Apple) / TFLite (Android)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54496" y="400507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Serverless cloud APIs (Replicate, Modal)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09360" y="4553712"/>
            <a:ext cx="2395728" cy="310896"/>
          </a:xfrm>
          <a:prstGeom prst="roundRect">
            <a:avLst>
              <a:gd name="adj" fmla="val 14706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09360" y="4553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serving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6032" y="4983480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layers must improve together — efficiency is a full-stack challenge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786384"/>
            <a:ext cx="8979408" cy="3657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Algorithm-Level Optimization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0" y="9144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0" y="91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420624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960120"/>
            <a:ext cx="64008" cy="190195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01498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Samplers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34416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 · DPM-Solver · PLMS · EDM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" y="1600200"/>
            <a:ext cx="3858768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1655064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 reformulates sampling as a non-Markovian process, cutting steps from T=1000 to 20–50 with near-identical FID. DPM-Solver achieves competitive quality in 10–20 steps using higher-order ODE integration.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377440"/>
            <a:ext cx="3950208" cy="384048"/>
          </a:xfrm>
          <a:prstGeom prst="roundRect">
            <a:avLst>
              <a:gd name="adj" fmla="val 11905"/>
            </a:avLst>
          </a:prstGeom>
          <a:solidFill>
            <a:srgbClr val="E8621A">
              <a:alpha val="12000"/>
            </a:srgbClr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" y="2404872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DDPM: ~1000 steps  →  DDIM: ~20 steps  →  DPM-Solver: ~10 steps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45152" y="960120"/>
            <a:ext cx="420624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45152" y="960120"/>
            <a:ext cx="64008" cy="1901952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05156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03520" y="101498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134416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Distillation · Consistency Models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28032" y="1600200"/>
            <a:ext cx="3858768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1655064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teacher pipeline supervises a compact student model at every timestep pair. Consistency Models enforce that all denoising-trajectory points map to the same clean image, enabling 1–4 step generation.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73168" y="2377440"/>
            <a:ext cx="3950208" cy="384048"/>
          </a:xfrm>
          <a:prstGeom prst="roundRect">
            <a:avLst>
              <a:gd name="adj" fmla="val 11905"/>
            </a:avLst>
          </a:prstGeom>
          <a:solidFill>
            <a:srgbClr val="3A5A8A">
              <a:alpha val="12000"/>
            </a:srgbClr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9744" y="2404872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50-step pipeline  →  Student: 1–4 steps  (only 3–4% FID increase)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2999232"/>
            <a:ext cx="420624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2999232"/>
            <a:ext cx="64008" cy="190195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0906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14400" y="305409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Diffusion Models (LDM)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33832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Stable Diffusion, SDXL, Würstchen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38912" y="3639312"/>
            <a:ext cx="3858768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3694176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VAE encoder compresses images to an 8–16× smaller latent tensor. The diffusion U-Net operates entirely in latent space; a VAE decoder reconstructs the final image. Memory and FLOPs drop proportionally.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" y="4416552"/>
            <a:ext cx="3950208" cy="384048"/>
          </a:xfrm>
          <a:prstGeom prst="roundRect">
            <a:avLst>
              <a:gd name="adj" fmla="val 11905"/>
            </a:avLst>
          </a:prstGeom>
          <a:solidFill>
            <a:srgbClr val="E8621A">
              <a:alpha val="12000"/>
            </a:srgbClr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0624" y="4443984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space: 512×512×3 = 786K dims  →  Latent: 64×64×4 = 16K dims  (49× smaller)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45152" y="2999232"/>
            <a:ext cx="420624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45152" y="2999232"/>
            <a:ext cx="64008" cy="1901952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30906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✂️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303520" y="305409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&amp; Quantization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33832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· INT4 · Structured / Unstructured Pruning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28032" y="3639312"/>
            <a:ext cx="3858768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73168" y="3694176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quantization (PTQ) converts FP32 weights to INT8/INT4, cutting model size and memory bandwidth 2–4×. Structured pruning removes entire attention heads or channels with minimal quality loss.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73168" y="4416552"/>
            <a:ext cx="3950208" cy="384048"/>
          </a:xfrm>
          <a:prstGeom prst="roundRect">
            <a:avLst>
              <a:gd name="adj" fmla="val 11905"/>
            </a:avLst>
          </a:prstGeom>
          <a:solidFill>
            <a:srgbClr val="3A5A8A">
              <a:alpha val="12000"/>
            </a:srgbClr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9744" y="4443984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SDXL U-Net: ~5 GB  →  INT8: ~2.5 GB  →  INT4: ~1.3 GB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786384"/>
            <a:ext cx="8979408" cy="3657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Framework Optimization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0" y="91440"/>
            <a:ext cx="2194560" cy="594360"/>
          </a:xfrm>
          <a:prstGeom prst="roundRect">
            <a:avLst>
              <a:gd name="adj" fmla="val 7692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0" y="91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02 &amp; 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932688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" y="96926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System-Level  (Hardware / Kernels)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444752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0896" y="1572768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" y="15727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3–4×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42416" y="1490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42416" y="17556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attention avoids materializing full O(n²) attention maps in VRAM — standard in all modern diffusion models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214884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C4500F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0896" y="2276856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C4500F"/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0896" y="22768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42416" y="2194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xFormers Library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24597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drop-in memory-efficient attention; fused CUDA kernels; zero code changes needed in Diffusers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852928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0896" y="2980944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0896" y="298094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42416" y="2898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Caching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31638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U-Net activations across adjacent timesteps — exploits high correlation of intermediate features in consecutive steps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3557016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C4500F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0896" y="368503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C4500F"/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0896" y="368503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42416" y="36027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GPU Kernels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" y="38679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A100/H100 tensor cores execute INT8 GEMM natively — halves memory bandwidth vs. FP16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4261104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10896" y="438912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10896" y="43891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 GPUs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42416" y="43068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Inference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2416" y="45720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parallelism splits model layers; tensor parallelism splits weight matrices — enables 10B+ param models in production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45152" y="932688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18304" y="969264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Framework-Level  (Deployment / Serving)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45152" y="1444752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00016" y="1572768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0016" y="157276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41264" y="14904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Diffusers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41264" y="17556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De-facto standard; 100+ pipelines, built-in xFormers, model CPU offloading, sequential VRAM offload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45152" y="214884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2B4D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00016" y="2276856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2B4D8A"/>
          </a:solidFill>
          <a:ln w="12700">
            <a:solidFill>
              <a:srgbClr val="2B4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00016" y="2276856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 faster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541264" y="2194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(NVIDIA)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41264" y="24597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ONNX → optimized TRT engine via kernel fusion, layer elimination, FP16/INT8 precision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45152" y="2852928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00016" y="2980944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00016" y="2980944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1.3–2×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541264" y="2898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torch.compile (PyTorch 2.0)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541264" y="31638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Graph-captures denoising loop, fuses Python overhead, enables TorchInductor CUDA kernel generation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45152" y="3557016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2B4D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700016" y="3685032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2B4D8A"/>
          </a:solidFill>
          <a:ln w="12700">
            <a:solidFill>
              <a:srgbClr val="2B4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00016" y="3685032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541264" y="3602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CoreML / TFLite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541264" y="38679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CoreML for A/M-series chips; TFLite for Android — fully offline generation with &lt;1 GB models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45152" y="4261104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700016" y="4389120"/>
            <a:ext cx="768096" cy="310896"/>
          </a:xfrm>
          <a:prstGeom prst="roundRect">
            <a:avLst>
              <a:gd name="adj" fmla="val 14706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700016" y="438912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541264" y="4306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APIs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541264" y="45720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Replicate, Modal, Banana.dev — cold-start optimized containers, GPU spot instances, instant scaling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786384"/>
            <a:ext cx="8979408" cy="3657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Experiment: Steps vs. Quality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0" y="91440"/>
            <a:ext cx="2377440" cy="594360"/>
          </a:xfrm>
          <a:prstGeom prst="roundRect">
            <a:avLst>
              <a:gd name="adj" fmla="val 7692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0" y="91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AutoResearch Template</a:t>
            </a:r>
            <a:endParaRPr lang="en-US" sz="9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56032" y="896112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256032" y="3858768"/>
          <a:ext cx="4572000" cy="1115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983480" y="914400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983480" y="914400"/>
            <a:ext cx="64008" cy="89611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120640" y="9509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Steps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144768" y="9692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1.2s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995160" y="9692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68%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120640" y="12984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visible artifacts &amp; reduced sharpness. Suitable only for draft previews.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983480" y="1938528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983480" y="1938528"/>
            <a:ext cx="64008" cy="8961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120640" y="19751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Steps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144768" y="1993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2.4s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995160" y="19933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85%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120640" y="232257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for production APIs — good quality at 2× cost. Used by most real-time systems.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983480" y="2962656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983480" y="2962656"/>
            <a:ext cx="64008" cy="896112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120640" y="29992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Steps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144768" y="3017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3.6s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995160" y="30175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93%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120640" y="33467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Near-optimal. Recommended for final renders and high-quality creative tools.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983480" y="3986784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2E7D5E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983480" y="3986784"/>
            <a:ext cx="64008" cy="896112"/>
          </a:xfrm>
          <a:prstGeom prst="rect">
            <a:avLst/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120640" y="4023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Steps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144768" y="4041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6.0s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995160" y="40416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96%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120640" y="43708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 — only +3% quality for 67% more compute. Rarely justified.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256032" y="5010912"/>
            <a:ext cx="8577072" cy="0"/>
          </a:xfrm>
          <a:prstGeom prst="roundRect">
            <a:avLst>
              <a:gd name="adj" fmla="val Infinity"/>
            </a:avLst>
          </a:prstGeom>
          <a:solidFill>
            <a:srgbClr val="FFF0E8"/>
          </a:solidFill>
          <a:ln w="12700">
            <a:solidFill>
              <a:srgbClr val="F0A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786384"/>
            <a:ext cx="8979408" cy="3657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Survey Benchmarks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56032" y="896112"/>
          <a:ext cx="50292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256032" y="3657600"/>
          <a:ext cx="50292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0" y="89611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Explained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40680" y="1261872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504688" y="1408176"/>
            <a:ext cx="502920" cy="329184"/>
          </a:xfrm>
          <a:prstGeom prst="roundRect">
            <a:avLst>
              <a:gd name="adj" fmla="val 13889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504688" y="14081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080760" y="12984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Fréchet Inception Distance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080760" y="15727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distance between real and generated images via InceptionV3 features. Lower = better. SOTA: ~2–4 on CIFAR-10.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440680" y="201168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504688" y="2157984"/>
            <a:ext cx="502920" cy="329184"/>
          </a:xfrm>
          <a:prstGeom prst="roundRect">
            <a:avLst>
              <a:gd name="adj" fmla="val 13889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504688" y="21579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080760" y="204825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Score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080760" y="232257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quality + diversity via conditional entropy of InceptionV3 class predictions. Higher = better. Less reliable than FID.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440680" y="2761488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504688" y="2907792"/>
            <a:ext cx="502920" cy="329184"/>
          </a:xfrm>
          <a:prstGeom prst="roundRect">
            <a:avLst>
              <a:gd name="adj" fmla="val 13889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504688" y="29077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080760" y="27980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Score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080760" y="307238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text-image alignment using CLIP embeddings. Critical for text-to-image — does the output match the prompt?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440680" y="3511296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504688" y="3657600"/>
            <a:ext cx="502920" cy="329184"/>
          </a:xfrm>
          <a:prstGeom prst="roundRect">
            <a:avLst>
              <a:gd name="adj" fmla="val 13889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504688" y="36576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080760" y="35478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Function Evaluations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080760" y="38221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U-Net forward passes during sampling. Directly proportional to latency — the key efficiency metric.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440680" y="4261104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5504688" y="4407408"/>
            <a:ext cx="502920" cy="329184"/>
          </a:xfrm>
          <a:prstGeom prst="roundRect">
            <a:avLst>
              <a:gd name="adj" fmla="val 13889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504688" y="44074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080760" y="42976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Image Patch Sim.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080760" y="457200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Deep-feature perceptual similarity. Better correlated with human judgment than pixel-level PSNR/SSIM.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786384"/>
            <a:ext cx="8979408" cy="3657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807208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07592" y="1051560"/>
            <a:ext cx="713232" cy="713232"/>
          </a:xfrm>
          <a:prstGeom prst="ellipse">
            <a:avLst/>
          </a:prstGeom>
          <a:solidFill>
            <a:srgbClr val="E8621A">
              <a:alpha val="15000"/>
            </a:srgbClr>
          </a:solidFill>
          <a:ln w="1905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07592" y="10515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21992" y="1051560"/>
            <a:ext cx="768096" cy="274320"/>
          </a:xfrm>
          <a:prstGeom prst="roundRect">
            <a:avLst>
              <a:gd name="adj" fmla="val 16667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21992" y="105156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1B+ images/day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47472" y="18745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14884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· DALL·E 3 · Midjourney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236829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Text-to-image, style transfer, inpainting. SDXL-Turbo generates 512×512 in &lt;1 second on A100.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807208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51960" y="1051560"/>
            <a:ext cx="713232" cy="713232"/>
          </a:xfrm>
          <a:prstGeom prst="ellipse">
            <a:avLst/>
          </a:prstGeom>
          <a:solidFill>
            <a:srgbClr val="3A5A8A">
              <a:alpha val="15000"/>
            </a:srgbClr>
          </a:solidFill>
          <a:ln w="1905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51960" y="10515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66360" y="1051560"/>
            <a:ext cx="768096" cy="274320"/>
          </a:xfrm>
          <a:prstGeom prst="roundRect">
            <a:avLst>
              <a:gd name="adj" fmla="val 16667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66360" y="105156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FLOPs/clip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291840" y="18745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Synthesis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14884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· VideoCrafter · ModelScope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91840" y="236829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Spatial-temporal DiT transformers for text-to-video. Temporal consistency remains computationally demanding.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44768" y="960120"/>
            <a:ext cx="2807208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96328" y="1051560"/>
            <a:ext cx="713232" cy="713232"/>
          </a:xfrm>
          <a:prstGeom prst="ellipse">
            <a:avLst/>
          </a:prstGeom>
          <a:solidFill>
            <a:srgbClr val="E8621A">
              <a:alpha val="15000"/>
            </a:srgbClr>
          </a:solidFill>
          <a:ln w="1905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96328" y="10515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110728" y="1051560"/>
            <a:ext cx="768096" cy="274320"/>
          </a:xfrm>
          <a:prstGeom prst="roundRect">
            <a:avLst>
              <a:gd name="adj" fmla="val 16667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10728" y="105156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capable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236208" y="18745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Music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214884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AudioLDM 2 · MusicLDM · Stable Audio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36208" y="236829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diffusion on mel-spectrograms for speech and music synthesis. AudioLDM 2 achieves SOTA text-to-audio.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2971800"/>
            <a:ext cx="2807208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307592" y="3063240"/>
            <a:ext cx="713232" cy="713232"/>
          </a:xfrm>
          <a:prstGeom prst="ellipse">
            <a:avLst/>
          </a:prstGeom>
          <a:solidFill>
            <a:srgbClr val="3A5A8A">
              <a:alpha val="15000"/>
            </a:srgbClr>
          </a:solidFill>
          <a:ln w="1905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07592" y="30632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2221992" y="3063240"/>
            <a:ext cx="768096" cy="274320"/>
          </a:xfrm>
          <a:prstGeom prst="roundRect">
            <a:avLst>
              <a:gd name="adj" fmla="val 16667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21992" y="306324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validated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47472" y="38862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7472" y="416052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MedDiff · BrainSeg · SynthMed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7472" y="437997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super-resolution (4×), CT scan synthesis for data augmentation. Reduces annotation cost significantly.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0" y="2971800"/>
            <a:ext cx="2807208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251960" y="3063240"/>
            <a:ext cx="713232" cy="713232"/>
          </a:xfrm>
          <a:prstGeom prst="ellipse">
            <a:avLst/>
          </a:prstGeom>
          <a:solidFill>
            <a:srgbClr val="E8621A">
              <a:alpha val="15000"/>
            </a:srgbClr>
          </a:solidFill>
          <a:ln w="1905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251960" y="30632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5166360" y="3063240"/>
            <a:ext cx="768096" cy="274320"/>
          </a:xfrm>
          <a:prstGeom prst="roundRect">
            <a:avLst>
              <a:gd name="adj" fmla="val 16667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66360" y="306324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10–100× env. diversity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291840" y="38862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Sim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291840" y="416052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DreamFusion · RoboGen · GenSim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91840" y="437997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3D environment generation, sim-to-real domain randomization, robotic trajectory planning via diffusion policy.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44768" y="2971800"/>
            <a:ext cx="2807208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196328" y="3063240"/>
            <a:ext cx="713232" cy="713232"/>
          </a:xfrm>
          <a:prstGeom prst="ellipse">
            <a:avLst/>
          </a:prstGeom>
          <a:solidFill>
            <a:srgbClr val="3A5A8A">
              <a:alpha val="15000"/>
            </a:srgbClr>
          </a:solidFill>
          <a:ln w="1905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96328" y="30632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8110728" y="3063240"/>
            <a:ext cx="768096" cy="274320"/>
          </a:xfrm>
          <a:prstGeom prst="roundRect">
            <a:avLst>
              <a:gd name="adj" fmla="val 16667"/>
            </a:avLst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110728" y="306324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use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236208" y="38862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36208" y="416052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GAIA-1 · DriveX · DriveDreamer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236208" y="437997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scenario generation (rain, fog), LiDAR point cloud synthesis, sensor data augmentation for perception training.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786384"/>
            <a:ext cx="8979408" cy="3657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31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Directions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950976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Open Challenges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46304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463040"/>
            <a:ext cx="64008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49961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Speed–Quality Tradeoff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77393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distillation (1–4 steps) reduces mode coverage; artifacts appear on complex compositional prompts.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2167128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2167128"/>
            <a:ext cx="64008" cy="59436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220370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Benchmarks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247802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measures distribution but not prompt adherence. No universally accepted metric for text-image alignment quality.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871216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871216"/>
            <a:ext cx="64008" cy="5943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" y="29077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Diffusion Cost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" y="318211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temporal attention scales O(N²T²). A 5-second 720p video needs ~10× more FLOPs than a single image.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575304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C4500F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3575304"/>
            <a:ext cx="64008" cy="594360"/>
          </a:xfrm>
          <a:prstGeom prst="rect">
            <a:avLst/>
          </a:prstGeom>
          <a:solidFill>
            <a:srgbClr val="C4500F"/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" y="361188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Democratization Gap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" y="388620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State-of-art models (SDXL, SD3, Flux) still need 16–80 GB VRAM for training; inference needs 8 GB+.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4279392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4279392"/>
            <a:ext cx="64008" cy="594360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2336" y="431596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Bias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" y="459028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generation may amplify training biases; reduced diversity can cause mode collapse toward stereotyped outputs.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45152" y="950976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6592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Research Directions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45152" y="146304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45152" y="1463040"/>
            <a:ext cx="64008" cy="59436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91456" y="149961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Generation (&lt;1s)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91456" y="177393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Consistency Models + flow matching push toward sub-second generation. SDXL-Turbo already approaches real-time.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45152" y="2167128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45152" y="2167128"/>
            <a:ext cx="64008" cy="594360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91456" y="220370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Diffusion Multimodal Agents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91456" y="247802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models combining language reasoning (GPT-4o, Gemini) with diffusion generation for interactive creative agents.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45152" y="2871216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45152" y="2871216"/>
            <a:ext cx="64008" cy="59436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91456" y="29077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3D &amp; Video Diffusion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91456" y="318211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Spatial-temporal attention compression, video VAEs, 4D world models for autonomous driving and simulation.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45152" y="3575304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3A5A8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45152" y="3575304"/>
            <a:ext cx="64008" cy="594360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91456" y="361188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/ Mobile Diffusion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91456" y="388620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Sub-500 MB models for Apple A-series chips. Apple Image Playground and SD Core ML show on-device is possible now.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45152" y="4279392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E8621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45152" y="4279392"/>
            <a:ext cx="64008" cy="59436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91456" y="431596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Speculative Inference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91456" y="459028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allocate more steps to hard prompts; skip easy timesteps — compute proportional to prompt difficulty.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457200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1115568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1773936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0" y="2432304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0" y="3090672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3749040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4407408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5065776"/>
            <a:ext cx="2560320" cy="329184"/>
          </a:xfrm>
          <a:prstGeom prst="rect">
            <a:avLst/>
          </a:prstGeom>
          <a:solidFill>
            <a:srgbClr val="C4500F">
              <a:alpha val="40000"/>
            </a:srgbClr>
          </a:solidFill>
          <a:ln w="12700">
            <a:solidFill>
              <a:srgbClr val="C45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4592" y="0"/>
            <a:ext cx="6419088" cy="804672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4592" y="786384"/>
            <a:ext cx="6419088" cy="3657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7315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74320" y="950976"/>
            <a:ext cx="6172200" cy="685800"/>
          </a:xfrm>
          <a:prstGeom prst="roundRect">
            <a:avLst>
              <a:gd name="adj" fmla="val 9333"/>
            </a:avLst>
          </a:prstGeom>
          <a:solidFill>
            <a:srgbClr val="243858"/>
          </a:solidFill>
          <a:ln w="1524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4048" y="1069848"/>
            <a:ext cx="457200" cy="457200"/>
          </a:xfrm>
          <a:prstGeom prst="ellipse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101498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is a full-stack problem — algorithmic (samplers, distillation, LDM), system (Flash Attention, kernels), and framework (TensorRT, mobile) layers must all improve together.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1746504"/>
            <a:ext cx="6172200" cy="685800"/>
          </a:xfrm>
          <a:prstGeom prst="roundRect">
            <a:avLst>
              <a:gd name="adj" fmla="val 9333"/>
            </a:avLst>
          </a:prstGeom>
          <a:solidFill>
            <a:srgbClr val="243858"/>
          </a:solidFill>
          <a:ln w="15240">
            <a:solidFill>
              <a:srgbClr val="C88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4048" y="1865376"/>
            <a:ext cx="457200" cy="457200"/>
          </a:xfrm>
          <a:prstGeom prst="ellipse">
            <a:avLst/>
          </a:prstGeom>
          <a:solidFill>
            <a:srgbClr val="C88030"/>
          </a:solidFill>
          <a:ln w="12700">
            <a:solidFill>
              <a:srgbClr val="C88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181051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Diffusion Models and faster samplers (DDIM, DPM-Solver) are the two most impactful breakthroughs — foundational to every modern system including Stable Diffusion and DALL·E.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542032"/>
            <a:ext cx="6172200" cy="685800"/>
          </a:xfrm>
          <a:prstGeom prst="roundRect">
            <a:avLst>
              <a:gd name="adj" fmla="val 9333"/>
            </a:avLst>
          </a:prstGeom>
          <a:solidFill>
            <a:srgbClr val="243858"/>
          </a:solidFill>
          <a:ln w="1524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4048" y="2660904"/>
            <a:ext cx="457200" cy="457200"/>
          </a:xfrm>
          <a:prstGeom prst="ellipse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2688" y="26060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techniques — Flash Attention, computation caching, INT8 kernels — deliver 2–3× speedup with zero retraining and are now standard in every production pipeline.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6172200" cy="685800"/>
          </a:xfrm>
          <a:prstGeom prst="roundRect">
            <a:avLst>
              <a:gd name="adj" fmla="val 9333"/>
            </a:avLst>
          </a:prstGeom>
          <a:solidFill>
            <a:srgbClr val="243858"/>
          </a:solidFill>
          <a:ln w="15240">
            <a:solidFill>
              <a:srgbClr val="C88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84048" y="3456432"/>
            <a:ext cx="457200" cy="457200"/>
          </a:xfrm>
          <a:prstGeom prst="ellipse">
            <a:avLst/>
          </a:prstGeom>
          <a:solidFill>
            <a:srgbClr val="C88030"/>
          </a:solidFill>
          <a:ln w="12700">
            <a:solidFill>
              <a:srgbClr val="C88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2688" y="340156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experiment confirms: quality plateaus after ~30 steps. Production systems use 20–30 steps as the efficiency sweet spot; 1–4 step consistency models are the frontier.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133088"/>
            <a:ext cx="6172200" cy="685800"/>
          </a:xfrm>
          <a:prstGeom prst="roundRect">
            <a:avLst>
              <a:gd name="adj" fmla="val 9333"/>
            </a:avLst>
          </a:prstGeom>
          <a:solidFill>
            <a:srgbClr val="243858"/>
          </a:solidFill>
          <a:ln w="1524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4048" y="4251960"/>
            <a:ext cx="457200" cy="457200"/>
          </a:xfrm>
          <a:prstGeom prst="ellipse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2688" y="419709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is transitioning from 'can we generate?' to 'can we generate in real-time on a phone?' — mobile diffusion and LLM-hybrid architectures define the next decade of research.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2940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903720" y="2157984"/>
            <a:ext cx="192024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29400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Article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629400" y="2542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bit.ly/efficient-diffusion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29400" y="2852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Paper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29400" y="3090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openreview.net/forum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?id=wHECkBOwyt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919472"/>
            <a:ext cx="6172200" cy="36576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983480"/>
            <a:ext cx="6172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Shilpa Yelkur Ramakrishnaiah  ·  May 2026  ·  Based on: Efficient Diffusion Models: A Survey (TMLR 2025)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1937</Words>
  <Application>Microsoft Macintosh PowerPoint</Application>
  <PresentationFormat>On-screen Show (16:9)</PresentationFormat>
  <Paragraphs>315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Diffusion Models</dc:title>
  <dc:subject>PptxGenJS Presentation</dc:subject>
  <dc:creator>Shilpa Yelkur Ramakrishnaiah</dc:creator>
  <cp:lastModifiedBy>Shilpa Yelkur Ramakrishnaiah</cp:lastModifiedBy>
  <cp:revision>2</cp:revision>
  <dcterms:created xsi:type="dcterms:W3CDTF">2026-05-12T22:11:14Z</dcterms:created>
  <dcterms:modified xsi:type="dcterms:W3CDTF">2026-05-12T22:16:18Z</dcterms:modified>
</cp:coreProperties>
</file>